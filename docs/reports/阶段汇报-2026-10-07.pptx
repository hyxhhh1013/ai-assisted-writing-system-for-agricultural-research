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1" r:id="rId7"/>
    <p:sldId id="268" r:id="rId8"/>
    <p:sldId id="270" r:id="rId9"/>
    <p:sldId id="269" r:id="rId10"/>
    <p:sldId id="261" r:id="rId11"/>
    <p:sldId id="262" r:id="rId12"/>
    <p:sldId id="263" r:id="rId13"/>
    <p:sldId id="272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7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49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今天按这个顺序讲。先说已经做成什么，再说下一步重点做什么，最后说我需要的支持。下一步讲完，会接着说以后还可以怎么发展。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到项目时，目标就是做出能写可投稿论文的系统。当时还不清楚这是一个要长期运行、给很多人用的工程，没有先把功能模块和架构定完整，主要是到组里看大家平时要用什么，就加一块。这些功能单独都能用。叠在一起之后，新用户的上手难度变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方向不太对，所以改成现在这样。用户不用先记住系统里有什么。说下一步即可。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以前做的是演示用的小程序。这个产品要给多用户用，工程化是另一件难事。这些准备是为了出了问题能看见，改一处时也能知道有没有把原来的流程改坏。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两件事一起说。工业化证明后面还能迭代。完整初稿证明产品能力，不是只有某一个功能。能跑出来，说明系统做得到。换一个人用，不一定走出同样的结果。下一部分讲这个。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都是代跑。当场打开一份 Word。终稿仍是作者的。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按原稿这个例子讲。先讲一般情况，再落到我们组。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好用，是学长学姐不用先变成懂模型的人，也能走出一篇能给导师看的初稿。具体工作就是根据大家的真实反馈优化编排，减少每次乱跑。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工程化是为了支撑后面一轮一轮改。使用本身就是下一阶段的工作条件。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这一页证明框架有了。下一页用三篇真人稿证明上限看见了。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这是我从组会里总结出的一个大问题，也是后面想继续做的原因。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文献是同一类问题里已经在做的那一件。进展、论文、实验数据可以按同一方式留在组里。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规划方向要等这些资产都在组里之后。商业化说的是底层可以迁移，不是今天就要对外。本组先用顺，就是那套架构的一个实际样子。这也是我理解的实验室发展方向。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和成熟商业软件比，我们最贴本组的使用习惯和业务流程。大家用的时候缺什么、别扭在哪，我可以当时改。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892040" y="0"/>
            <a:ext cx="729965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892040" y="0"/>
            <a:ext cx="73152" cy="6858000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417320"/>
            <a:ext cx="4114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74519"/>
            <a:ext cx="42062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74320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农业科研 AI 辅助写作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349240"/>
            <a:ext cx="4023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dirty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  <a:r>
              <a:rPr lang="en-US" sz="1500" b="0" dirty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7</a:t>
            </a:r>
            <a:r>
              <a:rPr sz="1500" b="0" dirty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日
</a:t>
            </a:r>
            <a:r>
              <a:rPr sz="1500" b="0" dirty="0" err="1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课题组</a:t>
            </a:r>
            <a:endParaRPr sz="1500" b="0" dirty="0">
              <a:solidFill>
                <a:srgbClr val="C5D0D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49240" y="502920"/>
            <a:ext cx="6217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今天讲三件事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1325880"/>
            <a:ext cx="6309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49240" y="1325880"/>
            <a:ext cx="91440" cy="1170432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0" y="1581912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527048"/>
            <a:ext cx="45720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先前的工作基础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84248"/>
            <a:ext cx="4572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已经做成什么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2651760"/>
            <a:ext cx="6309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49240" y="2651760"/>
            <a:ext cx="91440" cy="1170432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2907791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52928"/>
            <a:ext cx="45720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下一步的工作方向与重点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10128"/>
            <a:ext cx="4572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这一阶段重点做什么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977639"/>
            <a:ext cx="6309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49240" y="3977639"/>
            <a:ext cx="91440" cy="117043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4233672"/>
            <a:ext cx="10058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178807"/>
            <a:ext cx="45720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我需要的支持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636007"/>
            <a:ext cx="4572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使用、经费、汇报方式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626364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讲完下一步之后：这个产品以后还可以怎么发展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一  ·  先前的工作基础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从往上加功能，到万能工具台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25880"/>
            <a:ext cx="11292840" cy="77724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10972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444752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让 AI 写出一篇可以拿去投稿的论文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3317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2286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当时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23317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只会做小的演示程序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23317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2487168"/>
            <a:ext cx="2286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07792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383280"/>
            <a:ext cx="23317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看学长学姐要用什么
就往上加一块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23317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799" y="2487168"/>
            <a:ext cx="2286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799" y="2907792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单独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3383280"/>
            <a:ext cx="23317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查重、文献、作图、写作
都能用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9992" y="2331720"/>
            <a:ext cx="274320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2487168"/>
            <a:ext cx="22860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907792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叠起来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383280"/>
            <a:ext cx="23317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变成万能工具台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" y="5166360"/>
            <a:ext cx="11292840" cy="1143000"/>
          </a:xfrm>
          <a:prstGeom prst="roundRect">
            <a:avLst>
              <a:gd name="adj" fmla="val 8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321808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加到后来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669280"/>
            <a:ext cx="10607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既要知道有哪些模块，又要学怎么用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一  ·  先前的工作基础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收成工具，前面加一个大脑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3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用户不用先记住系统里有什么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3" y="2148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269748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对着一个对话框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286000"/>
            <a:ext cx="365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2148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说下一步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69748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不用先学模块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286000"/>
            <a:ext cx="365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148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69748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大模型调用工具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2286000"/>
            <a:ext cx="365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1874519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36608" y="214884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69748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系统自己去调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3794760"/>
            <a:ext cx="27432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文献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9272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19272" y="3794760"/>
            <a:ext cx="27432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写作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1" y="3794760"/>
            <a:ext cx="27432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作图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9992" y="37947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9992" y="3794760"/>
            <a:ext cx="27432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2064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这就是现在的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6928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功能做成工具。加一个大脑，让大模型去调用这些工具。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一  ·  先前的工作基础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从演示程序到线上的工程化产品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4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71600"/>
            <a:ext cx="54864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以前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演示用的小程序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一个人：对接需求、写成代码、测试、维护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要上线，给多人用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原来的做法撑不住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86400" cy="306324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55448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96596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线上的工程化产品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651760"/>
            <a:ext cx="49377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后面改一处，能知道有没有把原来的流程改坏。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70916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470916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测试埋点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9272" y="470916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19272" y="470916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冒烟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1" y="470916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9631" y="470916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管道化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9992" y="470916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79992" y="470916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后台监测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现在线上这个，就是工程化做完之后的产品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一  ·  先前的工作基础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这一阶段的结果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5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71600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1371600"/>
            <a:ext cx="5532120" cy="9144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工业化产品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5029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 dirty="0" err="1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后面还能继续改</a:t>
            </a:r>
            <a:r>
              <a:rPr sz="2000" b="0" dirty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2000" b="0" dirty="0" err="1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不用每次重做</a:t>
            </a:r>
            <a:endParaRPr sz="2000" b="0" dirty="0">
              <a:solidFill>
                <a:srgbClr val="1C273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532120" cy="91440"/>
          </a:xfrm>
          <a:prstGeom prst="rect">
            <a:avLst/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69164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完整初稿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31720"/>
            <a:ext cx="5029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从题目走到
一整篇可导出的稿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480560"/>
            <a:ext cx="11311128" cy="178308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66344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dirty="0" err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大家都不是计算机出身，最直白的就是看稿</a:t>
            </a:r>
            <a:endParaRPr sz="1800" b="1" dirty="0">
              <a:solidFill>
                <a:srgbClr val="142A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9516" y="5234940"/>
            <a:ext cx="10789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这几篇是我自己用系统跑出来的。课题内容会上不展开，会后可以单独找我看。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sz="1100" b="1" dirty="0">
              <a:solidFill>
                <a:srgbClr val="C056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三篇学长初稿，上限在哪</a:t>
            </a:r>
            <a:endParaRPr sz="24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  ·  实验室科研写作  ·  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418301"/>
              </p:ext>
            </p:extLst>
          </p:nvPr>
        </p:nvGraphicFramePr>
        <p:xfrm>
          <a:off x="365760" y="1261872"/>
          <a:ext cx="114300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学长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写什么</a:t>
                      </a:r>
                      <a:endParaRPr sz="16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已经能到</a:t>
                      </a:r>
                      <a:endParaRPr sz="16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到不了（上限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109728" marT="73152" marB="73152" anchor="ctr">
                    <a:solidFill>
                      <a:srgbClr val="14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龙智</a:t>
                      </a:r>
                      <a:endParaRPr sz="1800" b="1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茶树</a:t>
                      </a:r>
                      <a:r>
                        <a:rPr sz="1400" b="0" dirty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CSS0022168 </a:t>
                      </a:r>
                      <a:r>
                        <a:rPr sz="1400" b="0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负调控茶氨酸</a:t>
                      </a:r>
                      <a:endParaRPr sz="1400" b="0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结构、数字、图能进第一稿</a:t>
                      </a:r>
                      <a:endParaRPr sz="1400" b="0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新梢发育有没有直接表型；投稿英文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</a:t>
                      </a:r>
                      <a:r>
                        <a:rPr lang="zh-CN" altLang="en-US" sz="18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昭</a:t>
                      </a:r>
                      <a:r>
                        <a:rPr sz="1800" b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</a:t>
                      </a:r>
                      <a:endParaRPr sz="1800" b="1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红麻催化热解，生物炭 / HZSM-5</a:t>
                      </a: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问题→结果→机理几天内能铺开</a:t>
                      </a:r>
                      <a:endParaRPr sz="1400" b="0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单次实验、峰面积分数、缺对照，机理会被写圆</a:t>
                      </a:r>
                      <a:endParaRPr sz="1400" b="0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7F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易程</a:t>
                      </a:r>
                      <a:endParaRPr sz="1800" b="1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KSC3 </a:t>
                      </a:r>
                      <a:r>
                        <a:rPr sz="1400" b="0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生物炭降茶树氟（多品种</a:t>
                      </a:r>
                      <a:r>
                        <a:rPr sz="1400" b="0" dirty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降氟、品质、微生物可给导师看</a:t>
                      </a: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1C27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同一题两种贡献句都写得出，必须人锁</a:t>
                      </a:r>
                      <a:endParaRPr sz="1400" b="0" dirty="0">
                        <a:solidFill>
                          <a:srgbClr val="1C273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38912" y="5029200"/>
            <a:ext cx="11292840" cy="1234440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5212080"/>
            <a:ext cx="108813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dirty="0" err="1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第一版远快于从零手写；组内数据和引用能进稿；贡献点立不立得住，系统替代不了。下一期不是再代写一篇，是作者自己打开系统走一遍</a:t>
            </a:r>
            <a:r>
              <a:rPr sz="1400" b="0" dirty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5F49BDC-5ACB-E38C-3511-60250D6E8F97}"/>
              </a:ext>
            </a:extLst>
          </p:cNvPr>
          <p:cNvPicPr>
            <a:picLocks/>
          </p:cNvPicPr>
          <p:nvPr/>
        </p:nvPicPr>
        <p:blipFill>
          <a:blip r:embed="rId2"/>
          <a:srcRect l="13450" r="10375"/>
          <a:stretch>
            <a:fillRect/>
          </a:stretch>
        </p:blipFill>
        <p:spPr>
          <a:xfrm>
            <a:off x="0" y="0"/>
            <a:ext cx="402336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BC4AB5F-7CE1-F33A-DE63-ED554AFB660C}"/>
              </a:ext>
            </a:extLst>
          </p:cNvPr>
          <p:cNvPicPr>
            <a:picLocks/>
          </p:cNvPicPr>
          <p:nvPr/>
        </p:nvPicPr>
        <p:blipFill>
          <a:blip r:embed="rId3"/>
          <a:srcRect l="10268" r="14096"/>
          <a:stretch>
            <a:fillRect/>
          </a:stretch>
        </p:blipFill>
        <p:spPr>
          <a:xfrm>
            <a:off x="3870959" y="0"/>
            <a:ext cx="402336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09DEBE2-D70B-A5DD-CD09-566D952E1F36}"/>
              </a:ext>
            </a:extLst>
          </p:cNvPr>
          <p:cNvPicPr>
            <a:picLocks/>
          </p:cNvPicPr>
          <p:nvPr/>
        </p:nvPicPr>
        <p:blipFill>
          <a:blip r:embed="rId4"/>
          <a:srcRect l="10875" r="11590"/>
          <a:stretch>
            <a:fillRect/>
          </a:stretch>
        </p:blipFill>
        <p:spPr>
          <a:xfrm>
            <a:off x="7894319" y="-49237"/>
            <a:ext cx="4297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238AC7-6AD3-A684-DC9F-541A9FDEBBA2}"/>
              </a:ext>
            </a:extLst>
          </p:cNvPr>
          <p:cNvPicPr>
            <a:picLocks/>
          </p:cNvPicPr>
          <p:nvPr/>
        </p:nvPicPr>
        <p:blipFill>
          <a:blip r:embed="rId2"/>
          <a:srcRect l="7838" r="7681"/>
          <a:stretch>
            <a:fillRect/>
          </a:stretch>
        </p:blipFill>
        <p:spPr>
          <a:xfrm>
            <a:off x="0" y="0"/>
            <a:ext cx="4094105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4FF91FC-9067-5274-2543-95EF0FA32883}"/>
              </a:ext>
            </a:extLst>
          </p:cNvPr>
          <p:cNvPicPr>
            <a:picLocks/>
          </p:cNvPicPr>
          <p:nvPr/>
        </p:nvPicPr>
        <p:blipFill>
          <a:blip r:embed="rId3"/>
          <a:srcRect l="7519" r="4432"/>
          <a:stretch>
            <a:fillRect/>
          </a:stretch>
        </p:blipFill>
        <p:spPr>
          <a:xfrm>
            <a:off x="4094105" y="0"/>
            <a:ext cx="4185975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BFBE0E-5BD3-A026-A361-13203D440E69}"/>
              </a:ext>
            </a:extLst>
          </p:cNvPr>
          <p:cNvPicPr>
            <a:picLocks/>
          </p:cNvPicPr>
          <p:nvPr/>
        </p:nvPicPr>
        <p:blipFill>
          <a:blip r:embed="rId4"/>
          <a:srcRect l="6109" r="6875"/>
          <a:stretch>
            <a:fillRect/>
          </a:stretch>
        </p:blipFill>
        <p:spPr>
          <a:xfrm>
            <a:off x="7929488" y="0"/>
            <a:ext cx="42625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38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55E05B-8039-AE69-1790-3BAF209F32C4}"/>
              </a:ext>
            </a:extLst>
          </p:cNvPr>
          <p:cNvPicPr>
            <a:picLocks/>
          </p:cNvPicPr>
          <p:nvPr/>
        </p:nvPicPr>
        <p:blipFill>
          <a:blip r:embed="rId2"/>
          <a:srcRect l="12126" r="8151"/>
          <a:stretch>
            <a:fillRect/>
          </a:stretch>
        </p:blipFill>
        <p:spPr>
          <a:xfrm>
            <a:off x="0" y="0"/>
            <a:ext cx="4346916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E2FA0AF-C7D6-060A-E620-A804C7877E3F}"/>
              </a:ext>
            </a:extLst>
          </p:cNvPr>
          <p:cNvPicPr>
            <a:picLocks/>
          </p:cNvPicPr>
          <p:nvPr/>
        </p:nvPicPr>
        <p:blipFill>
          <a:blip r:embed="rId3"/>
          <a:srcRect l="9860" r="5749"/>
          <a:stretch>
            <a:fillRect/>
          </a:stretch>
        </p:blipFill>
        <p:spPr>
          <a:xfrm>
            <a:off x="4248442" y="0"/>
            <a:ext cx="4283613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1F22C6-A009-D4E0-ADB4-18D8D065677D}"/>
              </a:ext>
            </a:extLst>
          </p:cNvPr>
          <p:cNvPicPr>
            <a:picLocks/>
          </p:cNvPicPr>
          <p:nvPr/>
        </p:nvPicPr>
        <p:blipFill>
          <a:blip r:embed="rId4"/>
          <a:srcRect l="10375" r="7525"/>
          <a:stretch>
            <a:fillRect/>
          </a:stretch>
        </p:blipFill>
        <p:spPr>
          <a:xfrm>
            <a:off x="8532055" y="232117"/>
            <a:ext cx="3709182" cy="605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35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二  ·  下一步的工作方向与重点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同样的系统，不同的人，结果会差很多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6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这是一个 Agent 产品，人与人用起来差别很大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737360"/>
            <a:ext cx="55321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0195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纯小白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同样是最顶尖的模型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提示词可能完全不一样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5532120" cy="169164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90195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资深程序员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5915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同样是最顶尖的模型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24912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提示词可能完全不一样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657600"/>
            <a:ext cx="1131112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657600"/>
            <a:ext cx="21031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认识不同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57600"/>
            <a:ext cx="85953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对模型能做什么、怎么把任务拆开，质量就差一截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526280"/>
            <a:ext cx="1131112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526280"/>
            <a:ext cx="21031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链路不同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26280"/>
            <a:ext cx="85953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同一套提示词，调用工具的链路也可能完全不同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5394960"/>
            <a:ext cx="11311128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5394960"/>
            <a:ext cx="21031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偶然性大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394960"/>
            <a:ext cx="85953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按概率、根据训练数据预测下一个词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二  ·  下一步的工作方向与重点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对我好用，不代表对大家适用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53312"/>
            <a:ext cx="11311128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19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比较熟悉这套系统，知道怎么把任务说清楚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学长学姐第一次用，说法不同，工具路径就可能不同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97180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27248"/>
            <a:ext cx="4663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上一阶段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93008"/>
            <a:ext cx="46634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可以用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97180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84848" y="3127248"/>
            <a:ext cx="46634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这一阶段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493008"/>
            <a:ext cx="46634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变得好用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46120"/>
            <a:ext cx="8229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617720"/>
            <a:ext cx="11311128" cy="1645920"/>
          </a:xfrm>
          <a:prstGeom prst="roundRect">
            <a:avLst>
              <a:gd name="adj" fmla="val 8000"/>
            </a:avLst>
          </a:prstGeom>
          <a:solidFill>
            <a:srgbClr val="F8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按真实卡住的地方改 Agent 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10789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把常用写作路径收稳。不用先变成懂模型的人，也能走出一篇能给导师看的初稿。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二  ·  下一步的工作方向与重点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路很长，但已经能按反馈改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8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25880"/>
            <a:ext cx="11311128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1188720" cy="1115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453895"/>
            <a:ext cx="9326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不是三两天能调好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911095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编排要按真实使用一轮一轮收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2560320"/>
            <a:ext cx="11311128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1188720" cy="1115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688336"/>
            <a:ext cx="9326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改一处，能较快确认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145536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测试、管道、监测已经有了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3794760"/>
            <a:ext cx="11311128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1188720" cy="1115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922776"/>
            <a:ext cx="9326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需要大家真的用起来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379976"/>
            <a:ext cx="9326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人用得少，我就还是在按自己的习惯调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5074920"/>
            <a:ext cx="11311128" cy="118872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074920"/>
            <a:ext cx="1078992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真实题目多了，才能按大家的习惯快速迭代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7103" cy="1078992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sz="1100" b="1" dirty="0">
              <a:solidFill>
                <a:srgbClr val="C056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384048"/>
            <a:ext cx="1133856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一条能走完的初稿路径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6565392"/>
            <a:ext cx="12027103" cy="292608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77240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实验室科研写作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241280" y="6583680"/>
            <a:ext cx="15544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1  方向或新建项目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2  导入文献，确认配置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1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3  大纲批准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9992" y="132588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7152" y="196596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4  按节起草并质检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47472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5  实验数据进入结果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347472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6  图和表进文稿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1" y="3474720"/>
            <a:ext cx="276148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7  审查、查重、降重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9992" y="3474720"/>
            <a:ext cx="2761488" cy="196596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4114800"/>
            <a:ext cx="2487168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 导出 Word / 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三  ·  以后还可以怎么发展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组会上反复出现的一件事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9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上学期一直在开组会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78308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老师常说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这个方向我们发过论文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5321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659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老师常说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77440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这个实验我们做过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4023360"/>
            <a:ext cx="11311128" cy="219456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人是流动的，科研是一直往下做的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新来的成员不知道以前的研究基础，就会重复。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三  ·  以后还可以怎么发展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文献留下了，其他资产也可以留下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4173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0C4A8"/>
                </a:solidFill>
                <a:latin typeface="Microsoft YaHei"/>
                <a:ea typeface="Microsoft YaHei"/>
                <a:cs typeface="Microsoft YaHei"/>
              </a:rPr>
              <a:t>已经在做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23317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83280"/>
            <a:ext cx="23317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本地知识库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14173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627632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可以留下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48840"/>
            <a:ext cx="23317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研究进展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383280"/>
            <a:ext cx="23317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还在各人电脑和记忆里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1" y="14173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799" y="1627632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可以留下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148840"/>
            <a:ext cx="23317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已发表论文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3383280"/>
            <a:ext cx="23317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还在各人电脑和记忆里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9992" y="1417320"/>
            <a:ext cx="27432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1627632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可以留下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148840"/>
            <a:ext cx="23317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383280"/>
            <a:ext cx="23317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还在各人电脑和记忆里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4709160"/>
            <a:ext cx="11311128" cy="15544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6B64"/>
                </a:solidFill>
                <a:latin typeface="Microsoft YaHei"/>
                <a:ea typeface="Microsoft YaHei"/>
                <a:cs typeface="Microsoft YaHei"/>
              </a:rPr>
              <a:t>新同学进组，先能查到本组做过什么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文献、进展、论文、实验数据，按同一方式留在组里。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三  ·  以后还可以怎么发展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有了这些基础之后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53312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整理下一步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3246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根据已有工作，帮忙看还可以做什么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353312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148132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81051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解放导师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331720"/>
            <a:ext cx="3246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减少反复提醒哪些已经做过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53312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481328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1051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用上组内资产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31720"/>
            <a:ext cx="3246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农业人工智能，不只是帮人写一篇稿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566160"/>
            <a:ext cx="11311128" cy="2651760"/>
          </a:xfrm>
          <a:prstGeom prst="roundRect">
            <a:avLst>
              <a:gd name="adj" fmla="val 8000"/>
            </a:avLst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794760"/>
            <a:ext cx="10607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底层留下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10607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写作    ·    文献    ·    作图    ·    检查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106070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5D0DC"/>
                </a:solidFill>
                <a:latin typeface="Microsoft YaHei"/>
                <a:ea typeface="Microsoft YaHei"/>
                <a:cs typeface="Microsoft YaHei"/>
              </a:rPr>
              <a:t>换一个课题组，换上他们的文献、数据和使用习惯，就可以迁过去。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6070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本组用顺，就是以后能对外、甚至商业化的一个实际样子。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9326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四  ·  我需要的支持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12064"/>
            <a:ext cx="104241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A45"/>
                </a:solidFill>
                <a:latin typeface="Microsoft YaHei"/>
                <a:ea typeface="Microsoft YaHei"/>
                <a:cs typeface="Microsoft YaHei"/>
              </a:rPr>
              <a:t>我希望大家用起来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92608"/>
            <a:ext cx="777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6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65392"/>
            <a:ext cx="11338560" cy="13716"/>
          </a:xfrm>
          <a:prstGeom prst="rect">
            <a:avLst/>
          </a:prstGeom>
          <a:solidFill>
            <a:srgbClr val="D9D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601968"/>
            <a:ext cx="7498079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禾书耕文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1100" b="0" dirty="0" err="1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阶段汇报</a:t>
            </a:r>
            <a:r>
              <a:rPr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  ·  2026.10.0</a:t>
            </a:r>
            <a:r>
              <a:rPr lang="en-US" sz="1100" b="0" dirty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1100" b="0" dirty="0">
              <a:solidFill>
                <a:srgbClr val="5B67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640" y="6601968"/>
            <a:ext cx="20574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B6775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1371600"/>
            <a:ext cx="113111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14630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371600"/>
            <a:ext cx="91440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学习成本还在。已经收成一个对话框，说下一步即可。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2514600"/>
            <a:ext cx="113111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514600"/>
            <a:ext cx="14630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时机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514600"/>
            <a:ext cx="91440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学期中还没到截止日期，写论文的需求确实不高。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657600"/>
            <a:ext cx="1131112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14630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C0562A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57600"/>
            <a:ext cx="914400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1C2734"/>
                </a:solidFill>
                <a:latin typeface="Microsoft YaHei"/>
                <a:ea typeface="Microsoft YaHei"/>
                <a:cs typeface="Microsoft YaHei"/>
              </a:rPr>
              <a:t>人在现场，可以按本组习惯随时加、随时改。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937760"/>
            <a:ext cx="11311128" cy="1325880"/>
          </a:xfrm>
          <a:prstGeom prst="roundRect">
            <a:avLst>
              <a:gd name="adj" fmla="val 8000"/>
            </a:avLst>
          </a:prstGeom>
          <a:solidFill>
            <a:srgbClr val="C0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937760"/>
            <a:ext cx="10789920" cy="1325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希望现在就拿手头正在做的内容进来用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700</Words>
  <Application>Microsoft Office PowerPoint</Application>
  <PresentationFormat>宽屏</PresentationFormat>
  <Paragraphs>242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禾书耕文：阶段汇报</dc:title>
  <dc:subject>2026-10-06</dc:subject>
  <dc:creator>禾书耕文</dc:creator>
  <cp:keywords/>
  <dc:description>generated using python-pptx</dc:description>
  <cp:lastModifiedBy>t379</cp:lastModifiedBy>
  <cp:revision>4</cp:revision>
  <dcterms:created xsi:type="dcterms:W3CDTF">2013-01-27T09:14:16Z</dcterms:created>
  <dcterms:modified xsi:type="dcterms:W3CDTF">2026-10-07T03:25:46Z</dcterms:modified>
  <cp:category/>
</cp:coreProperties>
</file>