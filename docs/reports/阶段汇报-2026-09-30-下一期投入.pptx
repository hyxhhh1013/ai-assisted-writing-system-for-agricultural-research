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先把结论放在封面上。框架这期收口，下一笔钱用来打穿真实稿。全国其他实验室放在最后当后续，不放进这期验收。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少讲内部代号。会上只用「以前怎样、现在怎样、下一笔换什么」。时间不够就留第 3、5、7、8、9、16、20、22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从工具箱走到能走完一篇初稿的实验室系统。仓库约四百余次提交。近期主轴是每轮一个可见结果，蓝图和大纲都等人批准。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先承认别人强。我们只讲实验室这一摊：稿和数据留在组里。国内科研全家桶功能更多、品牌更大，不拿功能个数去比。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公开标价，会上说大约，不要说成合同价。五人组一年公网订阅大约几千到一万出头。我们要的是同一量级的服务器、接口和陪跑。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公网订阅可以继续用来润色英文、查海量文献。禾书耕文补的是它们进不了组内数据和组内文库的那一段。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听到「一键出全文」就回到这页。三年到五年的终局是国内课题组都能私有部署。这期只说：先成为本实验室比直接开对话框更值得打开的工具。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现在接近 A 的「系统能走完」，缺的是 A 的「人真的走完」。第二个实验室要等本实验室有人能独立走完再谈。第一篇真实稿出来之前，不开 LaTeX、基金标书、多实验室网站。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这四件都是课题组原来就要花钱或花时间的。系统把它们收进同一条写稿路径。后面四页各讲一件。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若被问能不能代替知网：不能代替终检，能少做几次无准备的付费检测。预检分数不能当成学校分数。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稿好不好，下一步主要看库新不新、方向全不全。中心提过的每方向约千篇，是文献工作目标，不是系统已经自动达成的数字。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用「少切几次软件」来讲。覆盖的是本实验室常用科研图，特殊期刊的精细排版仍要作者收尾。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学习成本还在，但变了位置：不再先学十几个按钮，改为会改系统交出的那一节，并对数字和引用负责。Agent 省的是找功能的时间，省不了科研判断。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这一页证明框架有了。下一页到案例页才证明人用过。两段要连着讲。写作是起草、核对、修改。引用越界会被去掉并告警。实验室机器记载约 4 核 / 8G。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不保证句子漂亮。保证编造数字、乱引、结构串章会在交稿前被标出来。若案例稿上真有这类修改，就指给老师看。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这是全场唯一的结果页，停久一点。周期指可审校初稿，终稿和投稿仍由作者完成。文件或日期对不上，就改口为下一篇指定题目开始计时，不要报不到一周。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老师觉得虚，是因为听到的是系统名词。这三样是结果。没有第 1 样，后两样也撑不住。人天估价放附录，不能单独当追加经费的理由。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边界自己先说，比被问到再解释更像做过取舍。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会上工程项用一句带过：安全、不丢稿、以后好改。时间留给真题怎么组织。LaTeX 没有老师拍板之前不开。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组员学不会和不急着写要分开说。先讲截止日期，再讲学习成本。没有指定题目和交稿日，按使用迭代就是空转。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钱的结构是接口和机器，加上陪跑，加上很小一笔按清单修改。没有真实稿之前，不请大额开发费。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讲完停在这四件事上。老师不拍板第 1 件，后面三件都可以下次再说。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阶段汇报  ·  2026.09.30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54480"/>
            <a:ext cx="109728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E4EBE6"/>
                </a:solidFill>
                <a:latin typeface="Microsoft YaHei"/>
                <a:ea typeface="Microsoft YaHei"/>
                <a:cs typeface="Microsoft YaHei"/>
              </a:rPr>
              <a:t>实验室科研写作系统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37560"/>
            <a:ext cx="2011680" cy="32004"/>
          </a:xfrm>
          <a:prstGeom prst="rect">
            <a:avLst/>
          </a:prstGeom>
          <a:solidFill>
            <a:srgbClr val="A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657600"/>
            <a:ext cx="96012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3F6F4"/>
                </a:solidFill>
                <a:latin typeface="Microsoft YaHei"/>
                <a:ea typeface="Microsoft YaHei"/>
                <a:cs typeface="Microsoft YaHei"/>
              </a:rPr>
              <a:t>下一期买的是 1～2 篇真实初稿，和一张问题清单。
不买新功能清单。做不到，就停开发费，只留服务器和接口。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893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5D2CA"/>
                </a:solidFill>
                <a:latin typeface="Microsoft YaHei"/>
                <a:ea typeface="Microsoft YaHei"/>
                <a:cs typeface="Microsoft YaHei"/>
              </a:rPr>
              <a:t>汇报人 ________        听众：课题组导师 / 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02   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今天讲六件事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2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09928"/>
            <a:ext cx="10058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73352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48840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课题组已经在为什么付钱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09928"/>
            <a:ext cx="10058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673352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148840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三期怎么投，怎样算过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7180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64408"/>
            <a:ext cx="10058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227832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703320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查重、知识库、图表、Agent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7180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264408"/>
            <a:ext cx="10058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227832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证明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703320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一条初稿路径，加一个真人例子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2628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818888"/>
            <a:ext cx="10058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782312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下一期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57800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改什么，卡在哪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52628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818888"/>
            <a:ext cx="10058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782312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拍板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5257800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请老师定的人和钱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03    阶段判断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框架已经能出初稿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3  / 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从「功能齐全的写作工具箱」，走到「能走完一篇论文初稿的实验室系统」。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2132380" cy="777240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084831"/>
            <a:ext cx="19860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方向规划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5884" y="1965960"/>
            <a:ext cx="2132380" cy="777240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9036" y="2084831"/>
            <a:ext cx="19860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建项目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4569" y="1965960"/>
            <a:ext cx="2132380" cy="777240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7721" y="2084831"/>
            <a:ext cx="19860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分节写作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3254" y="1965960"/>
            <a:ext cx="2132380" cy="777240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6406" y="2084831"/>
            <a:ext cx="19860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审查 · 查重 · 配图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71939" y="1965960"/>
            <a:ext cx="2132380" cy="777240"/>
          </a:xfrm>
          <a:prstGeom prst="round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5091" y="2084831"/>
            <a:ext cx="19860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Word / 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73552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0332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5196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稿不丢，页面和上传收紧，工作台以后好改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1089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273552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70332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真题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5196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指定人、指定题、指定截止日期，走出 1～2 篇初稿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1089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273552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70332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上限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25196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按问题清单改小功能，事先说好改多少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04    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四类工具，各卖什么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4  /  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471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377440"/>
                <a:gridCol w="5852160"/>
              </a:tblGrid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课题组用它解决什么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公网润色 / 投稿检查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Paperpal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英文语法、投稿前语言和引用检查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公网文献助手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SciSpace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海量论文里检索、和 PDF 对话、写综述笔记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综述 Agent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Elicit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筛文献、抽表格、做系统综述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通用对话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等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零门槛起草、改写、答疑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34924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8F1E3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32120"/>
            <a:ext cx="108356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我们只讲自己占得住的缝：组内文献和实验数据进稿。不讲成「全面打过解螺旋」。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05    价格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和课题组已经在花的钱比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5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Paperpal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约 144～348 美元 / 人 /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0604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Prime 到 Pro
英文润色与投稿检查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46304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SciSpace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92024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年付约 12 美元 /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60604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Premium 约 144 美元 / 年
文献任务重时更贵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46304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Elicit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92024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约 49 美元 / 人 / 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60604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按年付
偏系统综述，比写作订阅贵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9476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查重是另一笔反复开支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133087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知网个人约 1.5 元/千字，AIGC 约 2 元/千字。硕士稿三万字一轮大约一百出头，改一版再测就是几百。终检不能省，能省的是还没改完就反复送正式库。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47488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1B3A2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93792"/>
            <a:ext cx="107899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五人组每人订一份 Paperpal 或 SciSpace，一年大约几千到一万出头人民币。
文献和实验数据在对方云上，或者根本进不了稿。我们请的是同一量级的组内费用。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06    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我们占的那条缝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6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581912"/>
            <a:ext cx="777240" cy="566928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777240" cy="4937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472184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资产留在组里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856231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组内 PDF、实验表、稿留在实验室服务器上。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770632"/>
            <a:ext cx="777240" cy="566928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07208"/>
            <a:ext cx="777240" cy="4937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660904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引用有边界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04495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写作落到当前这一节，引用编号不得超出本次检索到的文献。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959352"/>
            <a:ext cx="777240" cy="566928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995928"/>
            <a:ext cx="777240" cy="4937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849624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数字要对上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23367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结果章要接得上实验数据，不能凭对话编出数字。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5148072"/>
            <a:ext cx="777240" cy="566928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184648"/>
            <a:ext cx="777240" cy="4937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038344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农科写法在流程里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42239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IMRaD、结果与讨论分开，过度绝对的措辞会拦。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07   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作者主笔，系统出可审校初稿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7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1B3A2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108356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面向农业课题组的私有部署写作流程。
作者主笔。系统给检索、分节草稿、证据、审查、配图，并导出 Word / PDF。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从组内文献里找依据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78892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9718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起草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5661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按章节出草稿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8892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718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把关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配图、审查、查重预检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78892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29718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交稿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35661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导出给导师看的 Word / 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47120" cy="1554480"/>
          </a:xfrm>
          <a:prstGeom prst="roundRect">
            <a:avLst>
              <a:gd name="adj" fmla="val 8000"/>
            </a:avLst>
          </a:prstGeom>
          <a:solidFill>
            <a:srgbClr val="F8F1E3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64608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人在关键步骤上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03520"/>
            <a:ext cx="107899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学生按阶段往下走。大纲、蓝图、每一轮写出来的结果，作者点头之后才进入下一步。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08    投资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三期分开验收，过不了就停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8  /  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471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840480"/>
                <a:gridCol w="4572000"/>
              </a:tblGrid>
              <a:tr h="76581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这期买到什么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怎样算过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6581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 本实验室打穿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 + 陪跑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篇真实初稿，有作者，导师看过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6581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 组内能复制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小额修改，按清单、有上限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3 人独立完成「文献 → 写一节 → 导出」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6581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 对外试点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第二个实验室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对方自己导入文献并写出一节，附运维说明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663440"/>
            <a:ext cx="11247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28032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现在卡在 A 的后半句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57800"/>
            <a:ext cx="10789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工程上系统已经能走完。缺的是指定的人用真题走完。框架有了、细功能等使用再改，这个判断对。没有这篇稿，就不把「等反馈」当成继续开大功能的理由。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09   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四件实验室原来就在做的事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9  /  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471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97680"/>
                <a:gridCol w="5303520"/>
              </a:tblGrid>
              <a:tr h="79552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以前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查重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按次付费，问题段自己找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组内预检 + 降重定位，再决定送不送终检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在个人电脑，人走库散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组内库增量入库，写作时按章节检索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Origin、Jade、PPT 来回切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同一工作台出图、出表，进文稿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795531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上手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按钮多，不知道先点哪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 Agent 说下一步；关键步骤仍等人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577840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后面四页展开。每件只记一句：以前多痛，现在留在组里。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10    查重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少送几次正式库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10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上学期的真实开支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50749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初稿测、改完测、临近提交再测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单次单价现在并不夸张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贵在往返次数，以及还没定位问题段就送正式库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系统里现在做的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0749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相似性预检，标出重复段落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降重后并排看，再决定采纳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和质量审查放在同一个入口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1247120" cy="1508760"/>
          </a:xfrm>
          <a:prstGeom prst="roundRect">
            <a:avLst>
              <a:gd name="adj" fmla="val 8000"/>
            </a:avLst>
          </a:prstGeom>
          <a:solidFill>
            <a:srgbClr val="F8F1E3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919472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预检用来减少正式库的往返。学校或期刊指定的知网 / 维普终检仍然要做。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11   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文献从个人盘变成组里的增量库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11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留在组里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0292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私域 PDF 进组内索引。换届、换电脑，库不断。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645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按章检索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286000"/>
            <a:ext cx="50292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关键词加语义。写引言、方法、结果时，检索偏向不同。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只处理新增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50292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新论文不必整库重做。题录可走 RIS / BibTeX，开放获取全文可入库。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931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大约 900 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572000"/>
            <a:ext cx="50292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历史上曾经到这个量级。之后靠各方向继续投喂，库才会新。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12    图表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少切几次软件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12  / 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以前：表格、Origin 或 Jade、PPT、分子网站，最后再贴回 Word。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27432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743200" cy="91440"/>
          </a:xfrm>
          <a:prstGeom prst="rect">
            <a:avLst/>
          </a:prstGeom>
          <a:solidFill>
            <a:srgbClr val="A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40280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数据图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17520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柱状、折线、散点、热力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920240"/>
            <a:ext cx="27432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920240"/>
            <a:ext cx="2743200" cy="9144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2240280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表征与计算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017520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XRD、DFT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27432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2743200" cy="91440"/>
          </a:xfrm>
          <a:prstGeom prst="rect">
            <a:avLst/>
          </a:prstGeom>
          <a:solidFill>
            <a:srgbClr val="A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240280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三线表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017520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统计结果直接进文稿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920240"/>
            <a:ext cx="27432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920240"/>
            <a:ext cx="2743200" cy="9144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2240280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示意图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017520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流程、机理草图、分子结构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63440"/>
            <a:ext cx="11247120" cy="1600200"/>
          </a:xfrm>
          <a:prstGeom prst="roundRect">
            <a:avLst>
              <a:gd name="adj" fmla="val 8000"/>
            </a:avLst>
          </a:prstGeom>
          <a:solidFill>
            <a:srgbClr val="E7F0EA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83480"/>
            <a:ext cx="1078992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图在同一注册表里增加。写作和 Agent 可以调用，经过布局和质检后再进文稿。导出时带题注清单。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13    上手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说下一步，关键步等人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13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623560" cy="3063240"/>
          </a:xfrm>
          <a:prstGeom prst="roundRect">
            <a:avLst>
              <a:gd name="adj" fmla="val 8000"/>
            </a:avLst>
          </a:prstGeom>
          <a:solidFill>
            <a:srgbClr val="1B3A2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5029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 功能齐，路径像填题、点生成、导出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 作者参与少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 新人不知道该点哪个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6235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5029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跟 Agent 说下一步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系统去调文献、写节、作图、检查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每一轮留下一个看得见的结果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247120" cy="1691640"/>
          </a:xfrm>
          <a:prstGeom prst="roundRect">
            <a:avLst>
              <a:gd name="adj" fmla="val 8000"/>
            </a:avLst>
          </a:prstGeom>
          <a:solidFill>
            <a:srgbClr val="F8F1E3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36592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仍然等人点头的地方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66360"/>
            <a:ext cx="10789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大纲和蓝图必须批准。没有大纲会先问，不会直接往下写。导师确认过的方向是人机协作：人先写要点，系统再扩写。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14    本阶段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一条能走完的初稿路径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14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3774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1  方向或新建项目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19"/>
            <a:ext cx="23774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2  导入文献，确认配置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23774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3  大纲批准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37160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59" y="1874519"/>
            <a:ext cx="23774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4  按节起草并质检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3756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23774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5  实验数据进入结果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33756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840480"/>
            <a:ext cx="23774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6  图和表进文稿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3756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23774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7  审查、查重、降重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33756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1B3A2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3840480"/>
            <a:ext cx="23774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 导出 Word / PDF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15    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先拦住三类最费时间的错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15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19"/>
            <a:ext cx="1965960" cy="640080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1965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乱引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73352"/>
            <a:ext cx="84124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引用编号只能来自检索到的文献，越界会去掉并告警。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1965960" cy="640080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27248"/>
            <a:ext cx="1965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编造数字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90672"/>
            <a:ext cx="84124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精确数字要对上实验数据或文献，对不上就告警。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6052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480559"/>
            <a:ext cx="1965960" cy="640080"/>
          </a:xfrm>
          <a:prstGeom prst="round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44568"/>
            <a:ext cx="1965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结构串章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07992"/>
            <a:ext cx="84124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结果和讨论分开写。章节之间做一致性检查。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16    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用一篇真人初稿说话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16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人物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易程学长
同课题组，写过真实初稿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258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630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以前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1～2 个月
一份能给导师看的初稿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1B3A2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630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65960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一周内
拿出可审校初稿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747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当场打开，并在会前填上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8620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论文题目（可脱敏）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4340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______________________________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8620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23360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项目标识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4340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______________________________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8348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开始日期 / 交出日期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______________________________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98348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120640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改过的三处：数字、引用、结构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4406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______________________________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17    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会上带三样实物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17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737360"/>
            <a:ext cx="685800" cy="685800"/>
          </a:xfrm>
          <a:prstGeom prst="ellipse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28800"/>
            <a:ext cx="685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600200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一份 Word 初稿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脱敏或当场打开。易程那篇，或下一篇指定题。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291840"/>
            <a:ext cx="685800" cy="685800"/>
          </a:xfrm>
          <a:prstGeom prst="ellipse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383280"/>
            <a:ext cx="685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154680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一页过程记录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657600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用了哪些步骤、卡在哪、人工改了什么、接口大约花了多少。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4846320"/>
            <a:ext cx="685800" cy="685800"/>
          </a:xfrm>
          <a:prstGeom prst="ellipse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937760"/>
            <a:ext cx="685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709160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一页对照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12080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ChatGPT、Paperpal、本系统各做哪一段。本系统不做什么，写在同一页。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18    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做到的，和先写明的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18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4892040"/>
          </a:xfrm>
          <a:prstGeom prst="roundRect">
            <a:avLst>
              <a:gd name="adj" fmla="val 8000"/>
            </a:avLst>
          </a:prstGeom>
          <a:solidFill>
            <a:srgbClr val="E7F0EA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这期做到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502920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私域检索、分节写作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引用约束、审查和查重预检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常用科研图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Word / PDF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关键步骤等人批准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实验室可以部署试用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3212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不放进这期承诺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02920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无人值守、可直接投稿的全文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期刊级精排、稳定的 LaTeX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二十人同时写、全年无运维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替代知网终检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生信平台或基金标书系统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再做一套站点，或推倒重写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19    下一阶段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4 到 8 周：先打穿真题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19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690372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6492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主轴：试用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6446520" cy="3840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选 1～2 个方向，各 1 篇真题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空项目 → 文献 → 大纲批准 → 写节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图 / 表 → 质量中心 → 导出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回收反馈：质量、速度、卡点、敢不敢用于投稿前自查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只按清单改小处，事先说好上限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空白问卷不能代替这次试用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325880"/>
            <a:ext cx="4160520" cy="4892040"/>
          </a:xfrm>
          <a:prstGeom prst="roundRect">
            <a:avLst>
              <a:gd name="adj" fmla="val 8000"/>
            </a:avLst>
          </a:prstGeom>
          <a:solidFill>
            <a:srgbClr val="1B3A2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508760"/>
            <a:ext cx="374903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同时做的工程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48840"/>
            <a:ext cx="370332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页面内容消毒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中断时后台也能停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作图和上传收紧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建项和自动保存不丢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工作台编排下沉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20    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主因是没有截止日期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20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74523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6949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主因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6949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没有「不写不行」的任务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69494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学习成本是真的，但任何写作工具在没有节点时都是选修课。下一阶段先绑到已有任务：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694944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开题或中期必须交的综述一章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基金本子里的已有工作，改写成引言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老师指定：一组数据，两周内只走工作台，出结果节骨架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611880" cy="4892040"/>
          </a:xfrm>
          <a:prstGeom prst="roundRect">
            <a:avLst>
              <a:gd name="adj" fmla="val 8000"/>
            </a:avLst>
          </a:prstGeom>
          <a:solidFill>
            <a:srgbClr val="F8F1E3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0876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次因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0040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新人仍要会改稿，预检不是终检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人多时 4 核 8G 容易变慢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库不再入库，检索就会旧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·  开发仍是一人，瓶颈在试用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21    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请老师定的九件事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21  /  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207008"/>
          <a:ext cx="114300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029200"/>
                <a:gridCol w="4846320"/>
              </a:tblGrid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请定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换到什么</a:t>
                      </a:r>
                    </a:p>
                  </a:txBody>
                  <a:tcPr anchor="ctr" marL="91440" marR="73152" marT="54864" marB="54864">
                    <a:solidFill>
                      <a:srgbClr val="1B3A2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作者主笔，Agent 为日常入口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验收看可审校初稿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试用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2～5 人，自带题目和文献，2～4 周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1 篇初稿您过目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绑到开题、中期或两周结果节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截止日前有人打开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与智谱额度；认可限流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多人同时写不被打穿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服务器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扩大再升配；备份指定到人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8G 只够现在的规模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各方向继续入库，写明使用范围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库决定稿的质量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稿必须人工审校，引用作者负责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和答辩、伦理一致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LaTeX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这期要，或不要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决定开不开这一项</a:t>
                      </a:r>
                    </a:p>
                  </a:txBody>
                  <a:tcPr anchor="ctr" marL="91440" marR="73152" marT="54864" marB="54864">
                    <a:solidFill>
                      <a:srgbClr val="F4F7F4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  <a:tr h="5074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人力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文献整理或运维兼职即可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8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不强制第二名开发</a:t>
                      </a:r>
                    </a:p>
                  </a:txBody>
                  <a:tcPr anchor="ctr" marL="91440" marR="73152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E2DBCE"/>
                      </a:solidFill>
                      <a:prstDash val="solid"/>
                    </a:lnL>
                    <a:lnR w="6350" cap="flat" cmpd="sng" algn="ctr">
                      <a:solidFill>
                        <a:srgbClr val="E2DBCE"/>
                      </a:solidFill>
                      <a:prstDash val="solid"/>
                    </a:lnR>
                    <a:lnT w="6350" cap="flat" cmpd="sng" algn="ctr">
                      <a:solidFill>
                        <a:srgbClr val="E2DBCE"/>
                      </a:solidFill>
                      <a:prstDash val="solid"/>
                    </a:lnT>
                    <a:lnB w="6350" cap="flat" cmpd="sng" algn="ctr">
                      <a:solidFill>
                        <a:srgbClr val="E2DBC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22    拍板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93776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请当场定的四件事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20272" cy="10972"/>
          </a:xfrm>
          <a:prstGeom prst="rect">
            <a:avLst/>
          </a:prstGeom>
          <a:solidFill>
            <a:srgbClr val="E2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65392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禾书耕文  ·  阶段汇报  ·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94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22  /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486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4434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哪一篇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57400"/>
            <a:ext cx="44348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下一篇计时的题目、作者、您哪一天看初稿。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486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554480"/>
            <a:ext cx="4434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还有谁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057400"/>
            <a:ext cx="44348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2～4 周里，谁必须走完「文献 → 写一节 → 导出」。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1752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83279"/>
            <a:ext cx="5486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46120"/>
            <a:ext cx="4434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额度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49039"/>
            <a:ext cx="44348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模型按现有规模维持，还是按 5 人同时试用上调。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01752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79"/>
            <a:ext cx="5486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A0783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246120"/>
            <a:ext cx="4434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LaTeX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749039"/>
            <a:ext cx="44348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824"/>
                </a:solidFill>
                <a:latin typeface="Microsoft YaHei"/>
                <a:ea typeface="Microsoft YaHei"/>
                <a:cs typeface="Microsoft YaHei"/>
              </a:rPr>
              <a:t>这期不做。若要做，另开一次，先定期刊模板。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B3A2F"/>
                </a:solidFill>
                <a:latin typeface="Microsoft YaHei"/>
                <a:ea typeface="Microsoft YaHei"/>
                <a:cs typeface="Microsoft YaHei"/>
              </a:rPr>
              <a:t>这期能出可审校初稿。请用一篇真题验收。通过之后，再谈第二个人，以及要不要给合作组试点。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32120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E6862"/>
                </a:solidFill>
                <a:latin typeface="Microsoft YaHei"/>
                <a:ea typeface="Microsoft YaHei"/>
                <a:cs typeface="Microsoft YaHei"/>
              </a:rPr>
              <a:t>其他实验室，是这条路走通之后的事。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禾书耕文：阶段汇报与下一期投入</dc:title>
  <dc:subject>2026-09-30 课题组汇报</dc:subject>
  <dc:creator>禾书耕文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